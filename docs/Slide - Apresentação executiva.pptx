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Montserrat Bold" charset="1" panose="00000800000000000000"/>
      <p:regular r:id="rId28"/>
    </p:embeddedFont>
    <p:embeddedFont>
      <p:font typeface="Montserrat" charset="1" panose="00000500000000000000"/>
      <p:regular r:id="rId29"/>
    </p:embeddedFont>
    <p:embeddedFont>
      <p:font typeface="Calibri (MS)" charset="1" panose="020F050202020403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380369" y="907256"/>
            <a:ext cx="3000375" cy="442912"/>
            <a:chOff x="0" y="0"/>
            <a:chExt cx="4000500" cy="590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00500" cy="590550"/>
            </a:xfrm>
            <a:custGeom>
              <a:avLst/>
              <a:gdLst/>
              <a:ahLst/>
              <a:cxnLst/>
              <a:rect r="r" b="b" t="t" l="l"/>
              <a:pathLst>
                <a:path h="590550" w="4000500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3705225" y="0"/>
                  </a:lnTo>
                  <a:cubicBezTo>
                    <a:pt x="3868293" y="0"/>
                    <a:pt x="4000500" y="132207"/>
                    <a:pt x="4000500" y="295275"/>
                  </a:cubicBezTo>
                  <a:cubicBezTo>
                    <a:pt x="4000500" y="458343"/>
                    <a:pt x="3868293" y="590550"/>
                    <a:pt x="3705225" y="590550"/>
                  </a:cubicBezTo>
                  <a:lnTo>
                    <a:pt x="295275" y="590550"/>
                  </a:lnTo>
                  <a:cubicBezTo>
                    <a:pt x="132207" y="590550"/>
                    <a:pt x="0" y="458343"/>
                    <a:pt x="0" y="295275"/>
                  </a:cubicBezTo>
                  <a:close/>
                </a:path>
              </a:pathLst>
            </a:custGeom>
            <a:solidFill>
              <a:srgbClr val="182648"/>
            </a:solidFill>
            <a:ln w="14288" cap="sq">
              <a:solidFill>
                <a:srgbClr val="1F476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3466948"/>
            <a:ext cx="857250" cy="57150"/>
            <a:chOff x="0" y="0"/>
            <a:chExt cx="1143000" cy="7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" cy="76200"/>
            </a:xfrm>
            <a:custGeom>
              <a:avLst/>
              <a:gdLst/>
              <a:ahLst/>
              <a:cxnLst/>
              <a:rect r="r" b="b" t="t" l="l"/>
              <a:pathLst>
                <a:path h="762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105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401050"/>
            <a:ext cx="16459200" cy="14288"/>
            <a:chOff x="0" y="0"/>
            <a:chExt cx="219456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A101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616112" y="1000125"/>
            <a:ext cx="267176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CHALLENGE • FASE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895573"/>
            <a:ext cx="16877109" cy="85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5"/>
              </a:lnSpc>
            </a:pPr>
            <a:r>
              <a:rPr lang="en-US" sz="60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Olist Marketplace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982766"/>
            <a:ext cx="16073438" cy="47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Crescimento, riscos e oportunidades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5663803"/>
            <a:ext cx="10429875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Relatório executivo baseado no Brazilian E-Commerce Public Dataset com diagnósticos para acionistas e investidores.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928688"/>
            <a:ext cx="226814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PÓS-TECH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00362" y="978694"/>
            <a:ext cx="51435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|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57538" y="985838"/>
            <a:ext cx="10001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E2E8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FIAP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69178" y="8815388"/>
            <a:ext cx="680442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5"/>
              </a:lnSpc>
            </a:pPr>
            <a:r>
              <a:rPr lang="en-US" sz="1462" b="true">
                <a:solidFill>
                  <a:srgbClr val="64748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APRESENTADO POR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29418" y="9101138"/>
            <a:ext cx="464418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687" b="true">
                <a:solidFill>
                  <a:srgbClr val="F1F5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Grupo 26 Tech Challenge •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3000375"/>
            <a:ext cx="5272088" cy="6015038"/>
            <a:chOff x="0" y="0"/>
            <a:chExt cx="7029450" cy="802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29450" cy="8020050"/>
            </a:xfrm>
            <a:custGeom>
              <a:avLst/>
              <a:gdLst/>
              <a:ahLst/>
              <a:cxnLst/>
              <a:rect r="r" b="b" t="t" l="l"/>
              <a:pathLst>
                <a:path h="8020050" w="702945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723888" y="0"/>
                  </a:lnTo>
                  <a:cubicBezTo>
                    <a:pt x="6892671" y="0"/>
                    <a:pt x="7029450" y="136779"/>
                    <a:pt x="7029450" y="305562"/>
                  </a:cubicBezTo>
                  <a:lnTo>
                    <a:pt x="7029450" y="7714488"/>
                  </a:lnTo>
                  <a:cubicBezTo>
                    <a:pt x="7029450" y="7883271"/>
                    <a:pt x="6892671" y="8020050"/>
                    <a:pt x="6723888" y="8020050"/>
                  </a:cubicBezTo>
                  <a:lnTo>
                    <a:pt x="305562" y="8020050"/>
                  </a:lnTo>
                  <a:cubicBezTo>
                    <a:pt x="136779" y="8020050"/>
                    <a:pt x="0" y="7883271"/>
                    <a:pt x="0" y="7714488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507956" y="3000375"/>
            <a:ext cx="5272088" cy="6015038"/>
            <a:chOff x="0" y="0"/>
            <a:chExt cx="7029450" cy="8020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29450" cy="8020050"/>
            </a:xfrm>
            <a:custGeom>
              <a:avLst/>
              <a:gdLst/>
              <a:ahLst/>
              <a:cxnLst/>
              <a:rect r="r" b="b" t="t" l="l"/>
              <a:pathLst>
                <a:path h="8020050" w="702945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723888" y="0"/>
                  </a:lnTo>
                  <a:cubicBezTo>
                    <a:pt x="6892671" y="0"/>
                    <a:pt x="7029450" y="136779"/>
                    <a:pt x="7029450" y="305562"/>
                  </a:cubicBezTo>
                  <a:lnTo>
                    <a:pt x="7029450" y="7714488"/>
                  </a:lnTo>
                  <a:cubicBezTo>
                    <a:pt x="7029450" y="7883271"/>
                    <a:pt x="6892671" y="8020050"/>
                    <a:pt x="6723888" y="8020050"/>
                  </a:cubicBezTo>
                  <a:lnTo>
                    <a:pt x="305562" y="8020050"/>
                  </a:lnTo>
                  <a:cubicBezTo>
                    <a:pt x="136779" y="8020050"/>
                    <a:pt x="0" y="7883271"/>
                    <a:pt x="0" y="7714488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08656" y="3000375"/>
            <a:ext cx="5272088" cy="6015038"/>
            <a:chOff x="0" y="0"/>
            <a:chExt cx="7029450" cy="8020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9450" cy="8020050"/>
            </a:xfrm>
            <a:custGeom>
              <a:avLst/>
              <a:gdLst/>
              <a:ahLst/>
              <a:cxnLst/>
              <a:rect r="r" b="b" t="t" l="l"/>
              <a:pathLst>
                <a:path h="8020050" w="702945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723888" y="0"/>
                  </a:lnTo>
                  <a:cubicBezTo>
                    <a:pt x="6892671" y="0"/>
                    <a:pt x="7029450" y="136779"/>
                    <a:pt x="7029450" y="305562"/>
                  </a:cubicBezTo>
                  <a:lnTo>
                    <a:pt x="7029450" y="7714488"/>
                  </a:lnTo>
                  <a:cubicBezTo>
                    <a:pt x="7029450" y="7883271"/>
                    <a:pt x="6892671" y="8020050"/>
                    <a:pt x="6723888" y="8020050"/>
                  </a:cubicBezTo>
                  <a:lnTo>
                    <a:pt x="305562" y="8020050"/>
                  </a:lnTo>
                  <a:cubicBezTo>
                    <a:pt x="136779" y="8020050"/>
                    <a:pt x="0" y="7883271"/>
                    <a:pt x="0" y="7714488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45356" y="3021806"/>
            <a:ext cx="5229225" cy="57150"/>
            <a:chOff x="0" y="0"/>
            <a:chExt cx="69723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72300" cy="76200"/>
            </a:xfrm>
            <a:custGeom>
              <a:avLst/>
              <a:gdLst/>
              <a:ahLst/>
              <a:cxnLst/>
              <a:rect r="r" b="b" t="t" l="l"/>
              <a:pathLst>
                <a:path h="76200" w="6972300">
                  <a:moveTo>
                    <a:pt x="0" y="0"/>
                  </a:moveTo>
                  <a:lnTo>
                    <a:pt x="6972300" y="0"/>
                  </a:lnTo>
                  <a:lnTo>
                    <a:pt x="69723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105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29388" y="3021806"/>
            <a:ext cx="5229225" cy="57150"/>
            <a:chOff x="0" y="0"/>
            <a:chExt cx="6972300" cy="76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72300" cy="76200"/>
            </a:xfrm>
            <a:custGeom>
              <a:avLst/>
              <a:gdLst/>
              <a:ahLst/>
              <a:cxnLst/>
              <a:rect r="r" b="b" t="t" l="l"/>
              <a:pathLst>
                <a:path h="76200" w="6972300">
                  <a:moveTo>
                    <a:pt x="0" y="0"/>
                  </a:moveTo>
                  <a:lnTo>
                    <a:pt x="6972300" y="0"/>
                  </a:lnTo>
                  <a:lnTo>
                    <a:pt x="69723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F408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30088" y="3021806"/>
            <a:ext cx="5229225" cy="57150"/>
            <a:chOff x="0" y="0"/>
            <a:chExt cx="69723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72300" cy="76200"/>
            </a:xfrm>
            <a:custGeom>
              <a:avLst/>
              <a:gdLst/>
              <a:ahLst/>
              <a:cxnLst/>
              <a:rect r="r" b="b" t="t" l="l"/>
              <a:pathLst>
                <a:path h="76200" w="6972300">
                  <a:moveTo>
                    <a:pt x="0" y="0"/>
                  </a:moveTo>
                  <a:lnTo>
                    <a:pt x="6972300" y="0"/>
                  </a:lnTo>
                  <a:lnTo>
                    <a:pt x="69723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F6B9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28738" y="8065294"/>
            <a:ext cx="4429125" cy="14288"/>
            <a:chOff x="0" y="0"/>
            <a:chExt cx="590550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05500" cy="19050"/>
            </a:xfrm>
            <a:custGeom>
              <a:avLst/>
              <a:gdLst/>
              <a:ahLst/>
              <a:cxnLst/>
              <a:rect r="r" b="b" t="t" l="l"/>
              <a:pathLst>
                <a:path h="1905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A101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29438" y="8065294"/>
            <a:ext cx="4429125" cy="14288"/>
            <a:chOff x="0" y="0"/>
            <a:chExt cx="5905500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05500" cy="19050"/>
            </a:xfrm>
            <a:custGeom>
              <a:avLst/>
              <a:gdLst/>
              <a:ahLst/>
              <a:cxnLst/>
              <a:rect r="r" b="b" t="t" l="l"/>
              <a:pathLst>
                <a:path h="1905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A101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530138" y="8065294"/>
            <a:ext cx="4429125" cy="14288"/>
            <a:chOff x="0" y="0"/>
            <a:chExt cx="590550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05500" cy="19050"/>
            </a:xfrm>
            <a:custGeom>
              <a:avLst/>
              <a:gdLst/>
              <a:ahLst/>
              <a:cxnLst/>
              <a:rect r="r" b="b" t="t" l="l"/>
              <a:pathLst>
                <a:path h="1905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A101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687425" y="685800"/>
            <a:ext cx="4600575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64748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Perguntas Norteadoras de Negócio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700088"/>
            <a:ext cx="812601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VISÃO GERAL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1014412"/>
            <a:ext cx="8532314" cy="58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Percurso da Apresentação 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8738" y="3488531"/>
            <a:ext cx="553640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8738" y="4336256"/>
            <a:ext cx="5536406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65144" y="4655344"/>
            <a:ext cx="48006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Escala de Receita &amp; Sazonalidade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65144" y="5474494"/>
            <a:ext cx="45720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Trajetória mensal do faturamento total e resiliência pós-picos promocionais.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29438" y="3488531"/>
            <a:ext cx="553640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40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29438" y="4336256"/>
            <a:ext cx="5536406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F40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0330" y="4655344"/>
            <a:ext cx="432802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Dependência dos Top Sellers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0330" y="5131594"/>
            <a:ext cx="45720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Concentração de vendas em poucos parceiros e riscos para a estabilidade do ecossistema.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30138" y="3488531"/>
            <a:ext cx="553640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6B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65844" y="4336256"/>
            <a:ext cx="5536406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F6B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65844" y="4598194"/>
            <a:ext cx="286821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Demanda Regional</a:t>
            </a:r>
          </a:p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 Ticket Médio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65844" y="5303044"/>
            <a:ext cx="45720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Variações regionais de demanda por categoria e otimização logística dos vendedores.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0013" r="0" b="-5001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30841" y="499891"/>
            <a:ext cx="412283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PRÓXIMA ANÁLISE →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0841" y="1011917"/>
            <a:ext cx="1958727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0"/>
              </a:lnSpc>
            </a:pPr>
            <a:r>
              <a:rPr lang="en-US" sz="14400" b="true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0841" y="3176521"/>
            <a:ext cx="8067123" cy="73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Dependência 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0841" y="3976754"/>
            <a:ext cx="8067123" cy="73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Sellers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0841" y="4954829"/>
            <a:ext cx="545842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Concentração, riscos e 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resiliência do ecossistema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30841" y="6360795"/>
            <a:ext cx="7500004" cy="57150"/>
            <a:chOff x="0" y="0"/>
            <a:chExt cx="10000005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99980" cy="76200"/>
            </a:xfrm>
            <a:custGeom>
              <a:avLst/>
              <a:gdLst/>
              <a:ahLst/>
              <a:cxnLst/>
              <a:rect r="r" b="b" t="t" l="l"/>
              <a:pathLst>
                <a:path h="76200" w="9999980">
                  <a:moveTo>
                    <a:pt x="0" y="0"/>
                  </a:moveTo>
                  <a:lnTo>
                    <a:pt x="9999980" y="0"/>
                  </a:lnTo>
                  <a:lnTo>
                    <a:pt x="999998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105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30227" y="3450331"/>
            <a:ext cx="8493919" cy="2934291"/>
            <a:chOff x="0" y="0"/>
            <a:chExt cx="11325225" cy="39123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25225" cy="3912362"/>
            </a:xfrm>
            <a:custGeom>
              <a:avLst/>
              <a:gdLst/>
              <a:ahLst/>
              <a:cxnLst/>
              <a:rect r="r" b="b" t="t" l="l"/>
              <a:pathLst>
                <a:path h="3912362" w="11325225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1020425" y="0"/>
                  </a:lnTo>
                  <a:cubicBezTo>
                    <a:pt x="11188700" y="0"/>
                    <a:pt x="11325225" y="136398"/>
                    <a:pt x="11325225" y="304800"/>
                  </a:cubicBezTo>
                  <a:lnTo>
                    <a:pt x="11325225" y="3607562"/>
                  </a:lnTo>
                  <a:cubicBezTo>
                    <a:pt x="11325225" y="3775837"/>
                    <a:pt x="11188827" y="3912362"/>
                    <a:pt x="11020425" y="3912362"/>
                  </a:cubicBezTo>
                  <a:lnTo>
                    <a:pt x="304800" y="3912362"/>
                  </a:lnTo>
                  <a:cubicBezTo>
                    <a:pt x="136525" y="3912362"/>
                    <a:pt x="0" y="3775964"/>
                    <a:pt x="0" y="3607562"/>
                  </a:cubicBezTo>
                  <a:close/>
                </a:path>
              </a:pathLst>
            </a:custGeom>
            <a:solidFill>
              <a:srgbClr val="1A0A1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30227" y="3455079"/>
            <a:ext cx="57150" cy="2934291"/>
            <a:chOff x="0" y="0"/>
            <a:chExt cx="76200" cy="39123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200" cy="3912362"/>
            </a:xfrm>
            <a:custGeom>
              <a:avLst/>
              <a:gdLst/>
              <a:ahLst/>
              <a:cxnLst/>
              <a:rect r="r" b="b" t="t" l="l"/>
              <a:pathLst>
                <a:path h="3912362" w="76200">
                  <a:moveTo>
                    <a:pt x="0" y="0"/>
                  </a:moveTo>
                  <a:lnTo>
                    <a:pt x="76200" y="0"/>
                  </a:lnTo>
                  <a:lnTo>
                    <a:pt x="76200" y="3912362"/>
                  </a:lnTo>
                  <a:lnTo>
                    <a:pt x="0" y="3912362"/>
                  </a:lnTo>
                  <a:close/>
                </a:path>
              </a:pathLst>
            </a:custGeom>
            <a:solidFill>
              <a:srgbClr val="F5105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01690" y="3914675"/>
            <a:ext cx="257175" cy="257175"/>
            <a:chOff x="0" y="0"/>
            <a:chExt cx="342900" cy="3429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77" r="0" b="-277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496977" y="3914675"/>
            <a:ext cx="308469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Pergunta de Negócio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04071" y="4477080"/>
            <a:ext cx="7841456" cy="1376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8296" indent="-199148" lvl="1">
              <a:lnSpc>
                <a:spcPts val="2213"/>
              </a:lnSpc>
              <a:buFont typeface="Arial"/>
              <a:buChar char="•"/>
            </a:pPr>
            <a:r>
              <a:rPr lang="en-US" sz="1844" spc="105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Qual é o</a:t>
            </a:r>
            <a:r>
              <a:rPr lang="en-US" sz="1844" spc="105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 grau de dependência da receita total em relação ao top sellers e de que forma a distribuição de faturamento entre os vendedores impacta a resiliência e os riscos do ecossistema? </a:t>
            </a:r>
          </a:p>
          <a:p>
            <a:pPr algn="l">
              <a:lnSpc>
                <a:spcPts val="221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400388" y="1093547"/>
            <a:ext cx="11017993" cy="8359247"/>
          </a:xfrm>
          <a:custGeom>
            <a:avLst/>
            <a:gdLst/>
            <a:ahLst/>
            <a:cxnLst/>
            <a:rect r="r" b="b" t="t" l="l"/>
            <a:pathLst>
              <a:path h="8359247" w="11017993">
                <a:moveTo>
                  <a:pt x="0" y="0"/>
                </a:moveTo>
                <a:lnTo>
                  <a:pt x="11017993" y="0"/>
                </a:lnTo>
                <a:lnTo>
                  <a:pt x="11017993" y="8359247"/>
                </a:lnTo>
                <a:lnTo>
                  <a:pt x="0" y="835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-15903" r="0" b="-1590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742950"/>
            <a:ext cx="108183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b="true" sz="1462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01 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096466"/>
            <a:ext cx="603407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 spc="1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3150" spc="1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CURVA DE PARETO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678946"/>
            <a:ext cx="6376902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7"/>
              </a:lnSpc>
            </a:pPr>
          </a:p>
          <a:p>
            <a:pPr algn="l" marL="535768" indent="-267884" lvl="1">
              <a:lnSpc>
                <a:spcPts val="2977"/>
              </a:lnSpc>
              <a:buFont typeface="Arial"/>
              <a:buChar char="•"/>
            </a:pPr>
            <a:r>
              <a:rPr lang="en-US" sz="24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Curva de pareto confirma receita concentrada;</a:t>
            </a:r>
          </a:p>
          <a:p>
            <a:pPr algn="l">
              <a:lnSpc>
                <a:spcPts val="2977"/>
              </a:lnSpc>
            </a:pPr>
          </a:p>
          <a:p>
            <a:pPr algn="l" marL="535768" indent="-267884" lvl="1">
              <a:lnSpc>
                <a:spcPts val="2977"/>
              </a:lnSpc>
              <a:buFont typeface="Arial"/>
              <a:buChar char="•"/>
            </a:pPr>
            <a:r>
              <a:rPr lang="en-US" sz="24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129 vendedores (4,2%) respondem por metade da receita e 540 (17,7%) chegam a 80%.</a:t>
            </a:r>
          </a:p>
          <a:p>
            <a:pPr algn="l">
              <a:lnSpc>
                <a:spcPts val="297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8671887" y="2650401"/>
            <a:ext cx="8140925" cy="5512465"/>
            <a:chOff x="0" y="0"/>
            <a:chExt cx="8496300" cy="5753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96300" cy="5753100"/>
            </a:xfrm>
            <a:custGeom>
              <a:avLst/>
              <a:gdLst/>
              <a:ahLst/>
              <a:cxnLst/>
              <a:rect r="r" b="b" t="t" l="l"/>
              <a:pathLst>
                <a:path h="5753100" w="8496300">
                  <a:moveTo>
                    <a:pt x="12700" y="0"/>
                  </a:moveTo>
                  <a:cubicBezTo>
                    <a:pt x="4191" y="0"/>
                    <a:pt x="0" y="4191"/>
                    <a:pt x="0" y="12700"/>
                  </a:cubicBezTo>
                  <a:lnTo>
                    <a:pt x="0" y="5740400"/>
                  </a:lnTo>
                  <a:cubicBezTo>
                    <a:pt x="0" y="5748909"/>
                    <a:pt x="4191" y="5753100"/>
                    <a:pt x="12700" y="5753100"/>
                  </a:cubicBezTo>
                  <a:lnTo>
                    <a:pt x="8483600" y="5753100"/>
                  </a:lnTo>
                  <a:cubicBezTo>
                    <a:pt x="8492109" y="5753100"/>
                    <a:pt x="8496300" y="5748909"/>
                    <a:pt x="8496300" y="5740400"/>
                  </a:cubicBezTo>
                  <a:lnTo>
                    <a:pt x="8496300" y="12700"/>
                  </a:lnTo>
                  <a:cubicBezTo>
                    <a:pt x="8496300" y="4191"/>
                    <a:pt x="8492109" y="0"/>
                    <a:pt x="84836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462498" y="1073257"/>
            <a:ext cx="11017993" cy="8359247"/>
          </a:xfrm>
          <a:custGeom>
            <a:avLst/>
            <a:gdLst/>
            <a:ahLst/>
            <a:cxnLst/>
            <a:rect r="r" b="b" t="t" l="l"/>
            <a:pathLst>
              <a:path h="8359247" w="11017993">
                <a:moveTo>
                  <a:pt x="0" y="0"/>
                </a:moveTo>
                <a:lnTo>
                  <a:pt x="11017993" y="0"/>
                </a:lnTo>
                <a:lnTo>
                  <a:pt x="11017993" y="8359247"/>
                </a:lnTo>
                <a:lnTo>
                  <a:pt x="0" y="835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-15903" r="0" b="-1590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742950"/>
            <a:ext cx="102096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b="true" sz="1462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01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096466"/>
            <a:ext cx="603407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 spc="1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teste de stresse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2370" y="4393676"/>
            <a:ext cx="6742123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5768" indent="-267884" lvl="1">
              <a:lnSpc>
                <a:spcPts val="2977"/>
              </a:lnSpc>
              <a:buFont typeface="Arial"/>
              <a:buChar char="•"/>
            </a:pPr>
            <a:r>
              <a:rPr lang="en-US" sz="24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Risco real para o ecossistema seria uma saída em bloco;</a:t>
            </a:r>
          </a:p>
          <a:p>
            <a:pPr algn="l">
              <a:lnSpc>
                <a:spcPts val="2977"/>
              </a:lnSpc>
            </a:pPr>
          </a:p>
          <a:p>
            <a:pPr algn="l" marL="535768" indent="-267884" lvl="1">
              <a:lnSpc>
                <a:spcPts val="2977"/>
              </a:lnSpc>
              <a:buFont typeface="Arial"/>
              <a:buChar char="•"/>
            </a:pPr>
            <a:r>
              <a:rPr lang="en-US" sz="24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Saí</a:t>
            </a:r>
            <a:r>
              <a:rPr lang="en-US" sz="248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 do top 50, 33% de toda a receita seria perdida.</a:t>
            </a:r>
          </a:p>
          <a:p>
            <a:pPr algn="l">
              <a:lnSpc>
                <a:spcPts val="297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8369392" y="2384985"/>
            <a:ext cx="9168203" cy="5517030"/>
            <a:chOff x="0" y="0"/>
            <a:chExt cx="8674100" cy="5219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74100" cy="5219700"/>
            </a:xfrm>
            <a:custGeom>
              <a:avLst/>
              <a:gdLst/>
              <a:ahLst/>
              <a:cxnLst/>
              <a:rect r="r" b="b" t="t" l="l"/>
              <a:pathLst>
                <a:path h="5219700" w="8674100">
                  <a:moveTo>
                    <a:pt x="12700" y="0"/>
                  </a:moveTo>
                  <a:cubicBezTo>
                    <a:pt x="4191" y="0"/>
                    <a:pt x="0" y="4191"/>
                    <a:pt x="0" y="12700"/>
                  </a:cubicBezTo>
                  <a:lnTo>
                    <a:pt x="0" y="5207000"/>
                  </a:lnTo>
                  <a:cubicBezTo>
                    <a:pt x="0" y="5215509"/>
                    <a:pt x="4191" y="5219700"/>
                    <a:pt x="12700" y="5219700"/>
                  </a:cubicBezTo>
                  <a:lnTo>
                    <a:pt x="8661400" y="5219700"/>
                  </a:lnTo>
                  <a:cubicBezTo>
                    <a:pt x="8669909" y="5219700"/>
                    <a:pt x="8674100" y="5215509"/>
                    <a:pt x="8674100" y="5207000"/>
                  </a:cubicBezTo>
                  <a:lnTo>
                    <a:pt x="8674100" y="12700"/>
                  </a:lnTo>
                  <a:cubicBezTo>
                    <a:pt x="8674100" y="4191"/>
                    <a:pt x="8669909" y="0"/>
                    <a:pt x="8661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400388" y="1093547"/>
            <a:ext cx="11017993" cy="8359247"/>
          </a:xfrm>
          <a:custGeom>
            <a:avLst/>
            <a:gdLst/>
            <a:ahLst/>
            <a:cxnLst/>
            <a:rect r="r" b="b" t="t" l="l"/>
            <a:pathLst>
              <a:path h="8359247" w="11017993">
                <a:moveTo>
                  <a:pt x="0" y="0"/>
                </a:moveTo>
                <a:lnTo>
                  <a:pt x="11017993" y="0"/>
                </a:lnTo>
                <a:lnTo>
                  <a:pt x="11017993" y="8359247"/>
                </a:lnTo>
                <a:lnTo>
                  <a:pt x="0" y="835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-15903" r="0" b="-1590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742950"/>
            <a:ext cx="201825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b="true" sz="1462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01 • BLOCO II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096466"/>
            <a:ext cx="6034078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 spc="1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Concentração do top10 ao</a:t>
            </a:r>
            <a:r>
              <a:rPr lang="en-US" b="true" sz="3150" spc="17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longo do tempo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92932" y="3382632"/>
            <a:ext cx="7231353" cy="42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556" indent="-303778" lvl="1">
              <a:lnSpc>
                <a:spcPts val="3376"/>
              </a:lnSpc>
              <a:buFont typeface="Arial"/>
              <a:buChar char="•"/>
            </a:pPr>
            <a:r>
              <a:rPr lang="en-US" sz="28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Concentração de receita diminuiu 33% em jan/2017 para 14% em ago/2018;</a:t>
            </a:r>
          </a:p>
          <a:p>
            <a:pPr algn="l">
              <a:lnSpc>
                <a:spcPts val="3376"/>
              </a:lnSpc>
            </a:pPr>
          </a:p>
          <a:p>
            <a:pPr algn="l" marL="607556" indent="-303778" lvl="1">
              <a:lnSpc>
                <a:spcPts val="3376"/>
              </a:lnSpc>
              <a:buFont typeface="Arial"/>
              <a:buChar char="•"/>
            </a:pPr>
            <a:r>
              <a:rPr lang="en-US" sz="28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Lojistas a</a:t>
            </a:r>
            <a:r>
              <a:rPr lang="en-US" sz="28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umentaram de 226 para 1.266;</a:t>
            </a:r>
          </a:p>
          <a:p>
            <a:pPr algn="l">
              <a:lnSpc>
                <a:spcPts val="3376"/>
              </a:lnSpc>
            </a:pPr>
          </a:p>
          <a:p>
            <a:pPr algn="l" marL="607556" indent="-303778" lvl="1">
              <a:lnSpc>
                <a:spcPts val="3376"/>
              </a:lnSpc>
              <a:buFont typeface="Arial"/>
              <a:buChar char="•"/>
            </a:pPr>
            <a:r>
              <a:rPr lang="en-US" sz="28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í</a:t>
            </a:r>
            <a:r>
              <a:rPr lang="en-US" sz="28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ndice de Gini = 0,79, 0 = igualdade total, 1 = concentração total.</a:t>
            </a:r>
          </a:p>
          <a:p>
            <a:pPr algn="l">
              <a:lnSpc>
                <a:spcPts val="337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940104" y="2771409"/>
            <a:ext cx="9586064" cy="4814193"/>
          </a:xfrm>
          <a:custGeom>
            <a:avLst/>
            <a:gdLst/>
            <a:ahLst/>
            <a:cxnLst/>
            <a:rect r="r" b="b" t="t" l="l"/>
            <a:pathLst>
              <a:path h="4814193" w="9586064">
                <a:moveTo>
                  <a:pt x="0" y="0"/>
                </a:moveTo>
                <a:lnTo>
                  <a:pt x="9586064" y="0"/>
                </a:lnTo>
                <a:lnTo>
                  <a:pt x="9586064" y="4814193"/>
                </a:lnTo>
                <a:lnTo>
                  <a:pt x="0" y="4814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400388" y="1093547"/>
            <a:ext cx="11017993" cy="8359247"/>
          </a:xfrm>
          <a:custGeom>
            <a:avLst/>
            <a:gdLst/>
            <a:ahLst/>
            <a:cxnLst/>
            <a:rect r="r" b="b" t="t" l="l"/>
            <a:pathLst>
              <a:path h="8359247" w="11017993">
                <a:moveTo>
                  <a:pt x="0" y="0"/>
                </a:moveTo>
                <a:lnTo>
                  <a:pt x="11017993" y="0"/>
                </a:lnTo>
                <a:lnTo>
                  <a:pt x="11017993" y="8359247"/>
                </a:lnTo>
                <a:lnTo>
                  <a:pt x="0" y="835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-15903" r="0" b="-1590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742950"/>
            <a:ext cx="96827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b="true" sz="1462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096466"/>
            <a:ext cx="603407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Avaliação</a:t>
            </a: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dos top 30 sellers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2988" y="5787852"/>
            <a:ext cx="637690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Os maiores vendedores carregam a reputação dos market places.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677294" y="3068412"/>
            <a:ext cx="9582006" cy="4409518"/>
          </a:xfrm>
          <a:custGeom>
            <a:avLst/>
            <a:gdLst/>
            <a:ahLst/>
            <a:cxnLst/>
            <a:rect r="r" b="b" t="t" l="l"/>
            <a:pathLst>
              <a:path h="4409518" w="9582006">
                <a:moveTo>
                  <a:pt x="0" y="0"/>
                </a:moveTo>
                <a:lnTo>
                  <a:pt x="9582006" y="0"/>
                </a:lnTo>
                <a:lnTo>
                  <a:pt x="9582006" y="4409518"/>
                </a:lnTo>
                <a:lnTo>
                  <a:pt x="0" y="4409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4304" y="4006014"/>
            <a:ext cx="6265586" cy="11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2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 vendedores</a:t>
            </a: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têm notas inferiores a 4, em que um deles a nota é de 3,49;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400388" y="1093547"/>
            <a:ext cx="11017993" cy="8359247"/>
          </a:xfrm>
          <a:custGeom>
            <a:avLst/>
            <a:gdLst/>
            <a:ahLst/>
            <a:cxnLst/>
            <a:rect r="r" b="b" t="t" l="l"/>
            <a:pathLst>
              <a:path h="8359247" w="11017993">
                <a:moveTo>
                  <a:pt x="0" y="0"/>
                </a:moveTo>
                <a:lnTo>
                  <a:pt x="11017993" y="0"/>
                </a:lnTo>
                <a:lnTo>
                  <a:pt x="11017993" y="8359247"/>
                </a:lnTo>
                <a:lnTo>
                  <a:pt x="0" y="835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-15903" r="0" b="-1590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1728788"/>
            <a:ext cx="16459200" cy="14288"/>
            <a:chOff x="0" y="0"/>
            <a:chExt cx="21945600" cy="190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A101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924113" y="3283946"/>
            <a:ext cx="12535661" cy="3897288"/>
            <a:chOff x="0" y="0"/>
            <a:chExt cx="16661047" cy="122520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61048" cy="12251872"/>
            </a:xfrm>
            <a:custGeom>
              <a:avLst/>
              <a:gdLst/>
              <a:ahLst/>
              <a:cxnLst/>
              <a:rect r="r" b="b" t="t" l="l"/>
              <a:pathLst>
                <a:path h="12251872" w="16661048">
                  <a:moveTo>
                    <a:pt x="0" y="663533"/>
                  </a:moveTo>
                  <a:cubicBezTo>
                    <a:pt x="0" y="297269"/>
                    <a:pt x="243820" y="0"/>
                    <a:pt x="544231" y="0"/>
                  </a:cubicBezTo>
                  <a:lnTo>
                    <a:pt x="16116816" y="0"/>
                  </a:lnTo>
                  <a:cubicBezTo>
                    <a:pt x="16417528" y="0"/>
                    <a:pt x="16661048" y="297269"/>
                    <a:pt x="16661048" y="663533"/>
                  </a:cubicBezTo>
                  <a:lnTo>
                    <a:pt x="16661048" y="11588339"/>
                  </a:lnTo>
                  <a:cubicBezTo>
                    <a:pt x="16661048" y="11954970"/>
                    <a:pt x="16417226" y="12251872"/>
                    <a:pt x="16116816" y="12251872"/>
                  </a:cubicBezTo>
                  <a:lnTo>
                    <a:pt x="544231" y="12251872"/>
                  </a:lnTo>
                  <a:cubicBezTo>
                    <a:pt x="243820" y="12251872"/>
                    <a:pt x="0" y="11954970"/>
                    <a:pt x="0" y="11588339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914400" y="685800"/>
            <a:ext cx="102096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b="true" sz="1462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01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1000125"/>
            <a:ext cx="229805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Conclusão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8918" y="3406000"/>
            <a:ext cx="39631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Ecosistema não concentrado, mas desigual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876170" y="3283946"/>
            <a:ext cx="12535661" cy="3890520"/>
            <a:chOff x="0" y="0"/>
            <a:chExt cx="16661047" cy="122307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61048" cy="12230595"/>
            </a:xfrm>
            <a:custGeom>
              <a:avLst/>
              <a:gdLst/>
              <a:ahLst/>
              <a:cxnLst/>
              <a:rect r="r" b="b" t="t" l="l"/>
              <a:pathLst>
                <a:path h="12230595" w="16661048">
                  <a:moveTo>
                    <a:pt x="0" y="662381"/>
                  </a:moveTo>
                  <a:cubicBezTo>
                    <a:pt x="0" y="296752"/>
                    <a:pt x="243820" y="0"/>
                    <a:pt x="544231" y="0"/>
                  </a:cubicBezTo>
                  <a:lnTo>
                    <a:pt x="16116816" y="0"/>
                  </a:lnTo>
                  <a:cubicBezTo>
                    <a:pt x="16417528" y="0"/>
                    <a:pt x="16661048" y="296752"/>
                    <a:pt x="16661048" y="662381"/>
                  </a:cubicBezTo>
                  <a:lnTo>
                    <a:pt x="16661048" y="11568214"/>
                  </a:lnTo>
                  <a:cubicBezTo>
                    <a:pt x="16661048" y="11934209"/>
                    <a:pt x="16417226" y="12230595"/>
                    <a:pt x="16116816" y="12230595"/>
                  </a:cubicBezTo>
                  <a:lnTo>
                    <a:pt x="544231" y="12230595"/>
                  </a:lnTo>
                  <a:cubicBezTo>
                    <a:pt x="243820" y="12230595"/>
                    <a:pt x="0" y="11934209"/>
                    <a:pt x="0" y="11568214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736261" y="3150596"/>
            <a:ext cx="12535661" cy="3897288"/>
            <a:chOff x="0" y="0"/>
            <a:chExt cx="16661047" cy="122520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661048" cy="12251872"/>
            </a:xfrm>
            <a:custGeom>
              <a:avLst/>
              <a:gdLst/>
              <a:ahLst/>
              <a:cxnLst/>
              <a:rect r="r" b="b" t="t" l="l"/>
              <a:pathLst>
                <a:path h="12251872" w="16661048">
                  <a:moveTo>
                    <a:pt x="0" y="663533"/>
                  </a:moveTo>
                  <a:cubicBezTo>
                    <a:pt x="0" y="297269"/>
                    <a:pt x="243820" y="0"/>
                    <a:pt x="544231" y="0"/>
                  </a:cubicBezTo>
                  <a:lnTo>
                    <a:pt x="16116816" y="0"/>
                  </a:lnTo>
                  <a:cubicBezTo>
                    <a:pt x="16417528" y="0"/>
                    <a:pt x="16661048" y="297269"/>
                    <a:pt x="16661048" y="663533"/>
                  </a:cubicBezTo>
                  <a:lnTo>
                    <a:pt x="16661048" y="11588339"/>
                  </a:lnTo>
                  <a:cubicBezTo>
                    <a:pt x="16661048" y="11954970"/>
                    <a:pt x="16417226" y="12251872"/>
                    <a:pt x="16116816" y="12251872"/>
                  </a:cubicBezTo>
                  <a:lnTo>
                    <a:pt x="544231" y="12251872"/>
                  </a:lnTo>
                  <a:cubicBezTo>
                    <a:pt x="243820" y="12251872"/>
                    <a:pt x="0" y="11954970"/>
                    <a:pt x="0" y="11588339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7128942" y="3406000"/>
            <a:ext cx="409124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Não temos risco de ponto único de falha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00508" y="3406000"/>
            <a:ext cx="425879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Precisamos tomar cuidado com a qualidade dos grandes players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501375"/>
            <a:ext cx="4778315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ecossistema tem sua receita concentrada em um pequeno grupo, mas ainda sim é diversificado quando tratamos de cada indivíduo já que há muitos vendedores.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47582" y="4473071"/>
            <a:ext cx="485080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Nenhum vendor sozinho põe a receita em risco, o que reduz o risco de “ponto único de falha”.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43195" y="4473071"/>
            <a:ext cx="492179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Importante observar a qualidade dos grandes vendedores, pois carregam a reputação do marketplace.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0013" r="0" b="-5001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30841" y="499891"/>
            <a:ext cx="8067123" cy="433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>
                <a:solidFill>
                  <a:srgbClr val="FF40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PRÓXIMA ANÁLISE →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0841" y="1011917"/>
            <a:ext cx="2320826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0"/>
              </a:lnSpc>
            </a:pPr>
            <a:r>
              <a:rPr lang="en-US" b="true" sz="14400">
                <a:solidFill>
                  <a:srgbClr val="FF40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0841" y="3176521"/>
            <a:ext cx="6978551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Escala d</a:t>
            </a: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Receita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0841" y="3976754"/>
            <a:ext cx="610076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</a:t>
            </a: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Sazonalidade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0841" y="4954829"/>
            <a:ext cx="4551462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Crescimento, riscos e 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oportunidades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30841" y="6360795"/>
            <a:ext cx="7500004" cy="57150"/>
            <a:chOff x="0" y="0"/>
            <a:chExt cx="10000005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99980" cy="76200"/>
            </a:xfrm>
            <a:custGeom>
              <a:avLst/>
              <a:gdLst/>
              <a:ahLst/>
              <a:cxnLst/>
              <a:rect r="r" b="b" t="t" l="l"/>
              <a:pathLst>
                <a:path h="76200" w="9999980">
                  <a:moveTo>
                    <a:pt x="0" y="0"/>
                  </a:moveTo>
                  <a:lnTo>
                    <a:pt x="9999980" y="0"/>
                  </a:lnTo>
                  <a:lnTo>
                    <a:pt x="999998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105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60858" y="3792169"/>
            <a:ext cx="8493919" cy="2568626"/>
            <a:chOff x="0" y="0"/>
            <a:chExt cx="11325225" cy="34248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25225" cy="3424809"/>
            </a:xfrm>
            <a:custGeom>
              <a:avLst/>
              <a:gdLst/>
              <a:ahLst/>
              <a:cxnLst/>
              <a:rect r="r" b="b" t="t" l="l"/>
              <a:pathLst>
                <a:path h="3424809" w="11325225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1020425" y="0"/>
                  </a:lnTo>
                  <a:cubicBezTo>
                    <a:pt x="11188700" y="0"/>
                    <a:pt x="11325225" y="136398"/>
                    <a:pt x="11325225" y="304800"/>
                  </a:cubicBezTo>
                  <a:lnTo>
                    <a:pt x="11325225" y="3120009"/>
                  </a:lnTo>
                  <a:cubicBezTo>
                    <a:pt x="11325225" y="3288284"/>
                    <a:pt x="11188827" y="3424809"/>
                    <a:pt x="11020425" y="3424809"/>
                  </a:cubicBezTo>
                  <a:lnTo>
                    <a:pt x="304800" y="3424809"/>
                  </a:lnTo>
                  <a:cubicBezTo>
                    <a:pt x="136525" y="3424809"/>
                    <a:pt x="0" y="3288411"/>
                    <a:pt x="0" y="3120009"/>
                  </a:cubicBezTo>
                  <a:close/>
                </a:path>
              </a:pathLst>
            </a:custGeom>
            <a:solidFill>
              <a:srgbClr val="2A101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841908" y="4263657"/>
            <a:ext cx="286857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40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Pergunta de Negócio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5208" y="4725619"/>
            <a:ext cx="7650956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"Como a evolução mensal da receita e a trajetória do faturamento total refletem a escala de crescimento do marketplace, e de que forma os picos sazonais influenciam a estabilidade do negócio?"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400388" y="1329373"/>
            <a:ext cx="11017993" cy="8359247"/>
          </a:xfrm>
          <a:custGeom>
            <a:avLst/>
            <a:gdLst/>
            <a:ahLst/>
            <a:cxnLst/>
            <a:rect r="r" b="b" t="t" l="l"/>
            <a:pathLst>
              <a:path h="8359247" w="11017993">
                <a:moveTo>
                  <a:pt x="0" y="0"/>
                </a:moveTo>
                <a:lnTo>
                  <a:pt x="11017993" y="0"/>
                </a:lnTo>
                <a:lnTo>
                  <a:pt x="11017993" y="8359247"/>
                </a:lnTo>
                <a:lnTo>
                  <a:pt x="0" y="835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</a:blip>
            <a:stretch>
              <a:fillRect l="0" t="-15903" r="0" b="-1590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742950"/>
            <a:ext cx="105772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F40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02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160" y="1315626"/>
            <a:ext cx="681216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ESCALA</a:t>
            </a: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 RECEITA E SAZONALIDADE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856" y="3428210"/>
            <a:ext cx="8117504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 janeiro a julho, o faturamento cresceu 161,59%, acompanhado pelo aumento de 160,78% nos pedidos entregues.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ticket médio avançou apenas 0,31%. Portanto, o ganho de escala veio principalmente da quantidade de compras.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RECORTE: comparação de 2017 e 2018, sem frete.</a:t>
            </a:r>
          </a:p>
        </p:txBody>
      </p:sp>
      <p:sp>
        <p:nvSpPr>
          <p:cNvPr name="Freeform 6" id="6" descr="Indicadores de faturamento, pedidos e ticket médio de janeiro a julho de 2017 e 2018 em cartão branco rosa e grafite"/>
          <p:cNvSpPr/>
          <p:nvPr/>
        </p:nvSpPr>
        <p:spPr>
          <a:xfrm flipH="false" flipV="false" rot="0">
            <a:off x="8334375" y="2828925"/>
            <a:ext cx="9096375" cy="4972050"/>
          </a:xfrm>
          <a:custGeom>
            <a:avLst/>
            <a:gdLst/>
            <a:ahLst/>
            <a:cxnLst/>
            <a:rect r="r" b="b" t="t" l="l"/>
            <a:pathLst>
              <a:path h="4972050" w="9096375">
                <a:moveTo>
                  <a:pt x="0" y="0"/>
                </a:moveTo>
                <a:lnTo>
                  <a:pt x="9096375" y="0"/>
                </a:lnTo>
                <a:lnTo>
                  <a:pt x="9096375" y="4972050"/>
                </a:lnTo>
                <a:lnTo>
                  <a:pt x="0" y="4972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" t="0" r="-31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400388" y="1093547"/>
            <a:ext cx="11017993" cy="8359247"/>
          </a:xfrm>
          <a:custGeom>
            <a:avLst/>
            <a:gdLst/>
            <a:ahLst/>
            <a:cxnLst/>
            <a:rect r="r" b="b" t="t" l="l"/>
            <a:pathLst>
              <a:path h="8359247" w="11017993">
                <a:moveTo>
                  <a:pt x="0" y="0"/>
                </a:moveTo>
                <a:lnTo>
                  <a:pt x="11017993" y="0"/>
                </a:lnTo>
                <a:lnTo>
                  <a:pt x="11017993" y="8359247"/>
                </a:lnTo>
                <a:lnTo>
                  <a:pt x="0" y="835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-15903" r="0" b="-1590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742950"/>
            <a:ext cx="100503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F40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160" y="1315626"/>
            <a:ext cx="681216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EVOLUÇÃO MENSAL</a:t>
            </a: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DO FATURAMENTO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856" y="3428210"/>
            <a:ext cx="7459884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faturamento saiu de R$ 111,8 mil em jan/2017 e atingiu R$ 987,8 mil em nov/2017. Em 2018, a operação alcançou patamares mensais mais elevados.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 crescimento de escala veio acompanhado por oscilações de demanda.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Ago/2018 tem cobertura incompleta de entregas.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</p:txBody>
      </p:sp>
      <p:sp>
        <p:nvSpPr>
          <p:cNvPr name="Freeform 6" id="6" descr="Gráfico 2: imagem completa em fundo branco, barras rosa FIAP e grafite"/>
          <p:cNvSpPr/>
          <p:nvPr/>
        </p:nvSpPr>
        <p:spPr>
          <a:xfrm flipH="false" flipV="false" rot="0">
            <a:off x="8320733" y="3076495"/>
            <a:ext cx="9807202" cy="4128267"/>
          </a:xfrm>
          <a:custGeom>
            <a:avLst/>
            <a:gdLst/>
            <a:ahLst/>
            <a:cxnLst/>
            <a:rect r="r" b="b" t="t" l="l"/>
            <a:pathLst>
              <a:path h="4128267" w="9807202">
                <a:moveTo>
                  <a:pt x="0" y="0"/>
                </a:moveTo>
                <a:lnTo>
                  <a:pt x="9807202" y="0"/>
                </a:lnTo>
                <a:lnTo>
                  <a:pt x="9807202" y="4128267"/>
                </a:lnTo>
                <a:lnTo>
                  <a:pt x="0" y="4128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2" t="0" r="-112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377317" y="1306301"/>
            <a:ext cx="11017993" cy="8405390"/>
          </a:xfrm>
          <a:custGeom>
            <a:avLst/>
            <a:gdLst/>
            <a:ahLst/>
            <a:cxnLst/>
            <a:rect r="r" b="b" t="t" l="l"/>
            <a:pathLst>
              <a:path h="8405390" w="11017993">
                <a:moveTo>
                  <a:pt x="0" y="0"/>
                </a:moveTo>
                <a:lnTo>
                  <a:pt x="11017993" y="0"/>
                </a:lnTo>
                <a:lnTo>
                  <a:pt x="11017993" y="8405391"/>
                </a:lnTo>
                <a:lnTo>
                  <a:pt x="0" y="84053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</a:blip>
            <a:stretch>
              <a:fillRect l="0" t="-15266" r="0" b="-1581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742950"/>
            <a:ext cx="100503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F40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160" y="1315626"/>
            <a:ext cx="681216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QUANTIDADE</a:t>
            </a: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PEDIDOS ENTREGUES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856" y="3428210"/>
            <a:ext cx="7882640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</a:t>
            </a: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ram 17.805 pedidos entregues entre jan–jul/2017 e 46.432 no mesmo período de 2018, aumento de 160,78%.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Esse ritmo ficou muito próximo dos 161,59% de crescimento do faturamento.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aumento da quantidade de pedidos foi o principal motor da expansão.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</p:txBody>
      </p:sp>
      <p:sp>
        <p:nvSpPr>
          <p:cNvPr name="Freeform 6" id="6" descr="Gráfico 4: imagem completa em fundo branco, barras rosa FIAP e grafite"/>
          <p:cNvSpPr/>
          <p:nvPr/>
        </p:nvSpPr>
        <p:spPr>
          <a:xfrm flipH="false" flipV="false" rot="0">
            <a:off x="8334375" y="3543300"/>
            <a:ext cx="9096375" cy="3495675"/>
          </a:xfrm>
          <a:custGeom>
            <a:avLst/>
            <a:gdLst/>
            <a:ahLst/>
            <a:cxnLst/>
            <a:rect r="r" b="b" t="t" l="l"/>
            <a:pathLst>
              <a:path h="3495675" w="9096375">
                <a:moveTo>
                  <a:pt x="0" y="0"/>
                </a:moveTo>
                <a:lnTo>
                  <a:pt x="9096375" y="0"/>
                </a:lnTo>
                <a:lnTo>
                  <a:pt x="9096375" y="3495675"/>
                </a:lnTo>
                <a:lnTo>
                  <a:pt x="0" y="3495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" t="0" r="-7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376902" y="1305886"/>
            <a:ext cx="11017993" cy="8406220"/>
          </a:xfrm>
          <a:custGeom>
            <a:avLst/>
            <a:gdLst/>
            <a:ahLst/>
            <a:cxnLst/>
            <a:rect r="r" b="b" t="t" l="l"/>
            <a:pathLst>
              <a:path h="8406220" w="11017993">
                <a:moveTo>
                  <a:pt x="0" y="0"/>
                </a:moveTo>
                <a:lnTo>
                  <a:pt x="11017993" y="0"/>
                </a:lnTo>
                <a:lnTo>
                  <a:pt x="11017993" y="8406220"/>
                </a:lnTo>
                <a:lnTo>
                  <a:pt x="0" y="840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</a:blip>
            <a:stretch>
              <a:fillRect l="0" t="-15255" r="0" b="-158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742950"/>
            <a:ext cx="106605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F40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02I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9160" y="1315626"/>
            <a:ext cx="681216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PICO</a:t>
            </a: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NOVEMBRO DE 2017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288" y="2144301"/>
            <a:ext cx="7929613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ÚLTIMO</a:t>
            </a: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TRIMESTRE: Outubro/2017 somou R$ 648,2 mil; novembro alcançou R$ 987,8 mil; dezembro caiu para R$ 726,0 mil.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Houve um salto expressivo seguido de retração, compatível com demanda promocional concentrada.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pico não demonstra aumento permanente do faturamento.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</p:txBody>
      </p:sp>
      <p:sp>
        <p:nvSpPr>
          <p:cNvPr name="Freeform 6" id="6" descr="Gráfico 7: imagem completa em fundo branco, barras rosa FIAP e grafite"/>
          <p:cNvSpPr/>
          <p:nvPr/>
        </p:nvSpPr>
        <p:spPr>
          <a:xfrm flipH="false" flipV="false" rot="0">
            <a:off x="395963" y="5735226"/>
            <a:ext cx="7700938" cy="3983522"/>
          </a:xfrm>
          <a:custGeom>
            <a:avLst/>
            <a:gdLst/>
            <a:ahLst/>
            <a:cxnLst/>
            <a:rect r="r" b="b" t="t" l="l"/>
            <a:pathLst>
              <a:path h="3983522" w="7700938">
                <a:moveTo>
                  <a:pt x="0" y="0"/>
                </a:moveTo>
                <a:lnTo>
                  <a:pt x="7700938" y="0"/>
                </a:lnTo>
                <a:lnTo>
                  <a:pt x="7700938" y="3983522"/>
                </a:lnTo>
                <a:lnTo>
                  <a:pt x="0" y="3983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9" t="0" r="-99" b="0"/>
            </a:stretch>
          </a:blipFill>
        </p:spPr>
      </p:sp>
      <p:sp>
        <p:nvSpPr>
          <p:cNvPr name="Freeform 7" id="7" descr="Gráfico 8: imagem completa em fundo branco, barras rosa FIAP e grafite"/>
          <p:cNvSpPr/>
          <p:nvPr/>
        </p:nvSpPr>
        <p:spPr>
          <a:xfrm flipH="false" flipV="false" rot="0">
            <a:off x="8335205" y="5735226"/>
            <a:ext cx="9498293" cy="3983522"/>
          </a:xfrm>
          <a:custGeom>
            <a:avLst/>
            <a:gdLst/>
            <a:ahLst/>
            <a:cxnLst/>
            <a:rect r="r" b="b" t="t" l="l"/>
            <a:pathLst>
              <a:path h="3983522" w="9498293">
                <a:moveTo>
                  <a:pt x="0" y="0"/>
                </a:moveTo>
                <a:lnTo>
                  <a:pt x="9498293" y="0"/>
                </a:lnTo>
                <a:lnTo>
                  <a:pt x="9498293" y="3983522"/>
                </a:lnTo>
                <a:lnTo>
                  <a:pt x="0" y="39835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02" t="0" r="-5002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57370" y="2144301"/>
            <a:ext cx="7929613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BLACK</a:t>
            </a: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FRIDAY: Em 24/11/2017, foram R$ 149,9 mil em produtos e 1.147 pedidos entregues. A data concentrou 15,18% do faturamento de novembro.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 dia apresentou volume excepcional diante dos demais dias do mês.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  <a:p>
            <a:pPr algn="l" marL="462489" indent="-231244" lvl="1">
              <a:lnSpc>
                <a:spcPts val="2570"/>
              </a:lnSpc>
              <a:spcBef>
                <a:spcPct val="0"/>
              </a:spcBef>
              <a:buFont typeface="Arial"/>
              <a:buChar char="•"/>
            </a:pPr>
            <a:r>
              <a:rPr lang="en-US" sz="2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Planejar estoque, atendimento e entregas para picos promocionais.</a:t>
            </a:r>
          </a:p>
          <a:p>
            <a:pPr algn="l">
              <a:lnSpc>
                <a:spcPts val="257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400388" y="1093547"/>
            <a:ext cx="11017993" cy="8359247"/>
          </a:xfrm>
          <a:custGeom>
            <a:avLst/>
            <a:gdLst/>
            <a:ahLst/>
            <a:cxnLst/>
            <a:rect r="r" b="b" t="t" l="l"/>
            <a:pathLst>
              <a:path h="8359247" w="11017993">
                <a:moveTo>
                  <a:pt x="0" y="0"/>
                </a:moveTo>
                <a:lnTo>
                  <a:pt x="11017993" y="0"/>
                </a:lnTo>
                <a:lnTo>
                  <a:pt x="11017993" y="8359247"/>
                </a:lnTo>
                <a:lnTo>
                  <a:pt x="0" y="835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-15903" r="0" b="-1590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1728788"/>
            <a:ext cx="16459200" cy="14288"/>
            <a:chOff x="0" y="0"/>
            <a:chExt cx="21945600" cy="190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A101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924113" y="3283946"/>
            <a:ext cx="12535661" cy="3897288"/>
            <a:chOff x="0" y="0"/>
            <a:chExt cx="16661047" cy="122520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61048" cy="12251872"/>
            </a:xfrm>
            <a:custGeom>
              <a:avLst/>
              <a:gdLst/>
              <a:ahLst/>
              <a:cxnLst/>
              <a:rect r="r" b="b" t="t" l="l"/>
              <a:pathLst>
                <a:path h="12251872" w="16661048">
                  <a:moveTo>
                    <a:pt x="0" y="663533"/>
                  </a:moveTo>
                  <a:cubicBezTo>
                    <a:pt x="0" y="297269"/>
                    <a:pt x="243820" y="0"/>
                    <a:pt x="544231" y="0"/>
                  </a:cubicBezTo>
                  <a:lnTo>
                    <a:pt x="16116816" y="0"/>
                  </a:lnTo>
                  <a:cubicBezTo>
                    <a:pt x="16417528" y="0"/>
                    <a:pt x="16661048" y="297269"/>
                    <a:pt x="16661048" y="663533"/>
                  </a:cubicBezTo>
                  <a:lnTo>
                    <a:pt x="16661048" y="11588339"/>
                  </a:lnTo>
                  <a:cubicBezTo>
                    <a:pt x="16661048" y="11954970"/>
                    <a:pt x="16417226" y="12251872"/>
                    <a:pt x="16116816" y="12251872"/>
                  </a:cubicBezTo>
                  <a:lnTo>
                    <a:pt x="544231" y="12251872"/>
                  </a:lnTo>
                  <a:cubicBezTo>
                    <a:pt x="243820" y="12251872"/>
                    <a:pt x="0" y="11954970"/>
                    <a:pt x="0" y="11588339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914400" y="685800"/>
            <a:ext cx="105772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b="true" sz="1462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02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1000125"/>
            <a:ext cx="229805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Conclusão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8918" y="3406000"/>
            <a:ext cx="396313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Crescimento expressivo do faturamento</a:t>
            </a:r>
          </a:p>
          <a:p>
            <a:pPr algn="ctr">
              <a:lnSpc>
                <a:spcPts val="216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2876170" y="3283946"/>
            <a:ext cx="12535661" cy="3890520"/>
            <a:chOff x="0" y="0"/>
            <a:chExt cx="16661047" cy="122307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61048" cy="12230595"/>
            </a:xfrm>
            <a:custGeom>
              <a:avLst/>
              <a:gdLst/>
              <a:ahLst/>
              <a:cxnLst/>
              <a:rect r="r" b="b" t="t" l="l"/>
              <a:pathLst>
                <a:path h="12230595" w="16661048">
                  <a:moveTo>
                    <a:pt x="0" y="662381"/>
                  </a:moveTo>
                  <a:cubicBezTo>
                    <a:pt x="0" y="296752"/>
                    <a:pt x="243820" y="0"/>
                    <a:pt x="544231" y="0"/>
                  </a:cubicBezTo>
                  <a:lnTo>
                    <a:pt x="16116816" y="0"/>
                  </a:lnTo>
                  <a:cubicBezTo>
                    <a:pt x="16417528" y="0"/>
                    <a:pt x="16661048" y="296752"/>
                    <a:pt x="16661048" y="662381"/>
                  </a:cubicBezTo>
                  <a:lnTo>
                    <a:pt x="16661048" y="11568214"/>
                  </a:lnTo>
                  <a:cubicBezTo>
                    <a:pt x="16661048" y="11934209"/>
                    <a:pt x="16417226" y="12230595"/>
                    <a:pt x="16116816" y="12230595"/>
                  </a:cubicBezTo>
                  <a:lnTo>
                    <a:pt x="544231" y="12230595"/>
                  </a:lnTo>
                  <a:cubicBezTo>
                    <a:pt x="243820" y="12230595"/>
                    <a:pt x="0" y="11934209"/>
                    <a:pt x="0" y="11568214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736261" y="3150596"/>
            <a:ext cx="12535661" cy="3897288"/>
            <a:chOff x="0" y="0"/>
            <a:chExt cx="16661047" cy="122520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661048" cy="12251872"/>
            </a:xfrm>
            <a:custGeom>
              <a:avLst/>
              <a:gdLst/>
              <a:ahLst/>
              <a:cxnLst/>
              <a:rect r="r" b="b" t="t" l="l"/>
              <a:pathLst>
                <a:path h="12251872" w="16661048">
                  <a:moveTo>
                    <a:pt x="0" y="663533"/>
                  </a:moveTo>
                  <a:cubicBezTo>
                    <a:pt x="0" y="297269"/>
                    <a:pt x="243820" y="0"/>
                    <a:pt x="544231" y="0"/>
                  </a:cubicBezTo>
                  <a:lnTo>
                    <a:pt x="16116816" y="0"/>
                  </a:lnTo>
                  <a:cubicBezTo>
                    <a:pt x="16417528" y="0"/>
                    <a:pt x="16661048" y="297269"/>
                    <a:pt x="16661048" y="663533"/>
                  </a:cubicBezTo>
                  <a:lnTo>
                    <a:pt x="16661048" y="11588339"/>
                  </a:lnTo>
                  <a:cubicBezTo>
                    <a:pt x="16661048" y="11954970"/>
                    <a:pt x="16417226" y="12251872"/>
                    <a:pt x="16116816" y="12251872"/>
                  </a:cubicBezTo>
                  <a:lnTo>
                    <a:pt x="544231" y="12251872"/>
                  </a:lnTo>
                  <a:cubicBezTo>
                    <a:pt x="243820" y="12251872"/>
                    <a:pt x="0" y="11954970"/>
                    <a:pt x="0" y="11588339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7128942" y="3406000"/>
            <a:ext cx="409124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Crescimento impulsionado pelo volume de pedidos</a:t>
            </a:r>
          </a:p>
          <a:p>
            <a:pPr algn="ctr">
              <a:lnSpc>
                <a:spcPts val="216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000508" y="3406000"/>
            <a:ext cx="425879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Sazonalidade e oscilações no faturamento</a:t>
            </a:r>
          </a:p>
          <a:p>
            <a:pPr algn="ctr">
              <a:lnSpc>
                <a:spcPts val="216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501375"/>
            <a:ext cx="4778315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Entre janeiro e julho de 2017 e 2018, o faturamento cresceu 161,59%, demonstrando uma forte expansão do marketplace.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647582" y="4473071"/>
            <a:ext cx="485080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quantidade de pedidos aumentou 160,78%, enquanto o valor médio por compra avançou apenas 0,31%, evidenciando que o volume de vendas foi o principal motor do crescimento.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543195" y="4473071"/>
            <a:ext cx="492179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Novembro de 2017 registrou alta de 52,4%, seguida de queda de 26,5% em dezembro, demonstrando a influência dos períodos promocionais e a necessidade de maior estabilidade.</a:t>
            </a: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0013" r="0" b="-5001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30841" y="499891"/>
            <a:ext cx="412283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6B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PRÓXIMA ANÁLISE →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0841" y="1011917"/>
            <a:ext cx="2324546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80"/>
              </a:lnSpc>
            </a:pPr>
            <a:r>
              <a:rPr lang="en-US" sz="14400" b="true">
                <a:solidFill>
                  <a:srgbClr val="FF6B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0841" y="3176521"/>
            <a:ext cx="8418761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Demanda Regional </a:t>
            </a: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0841" y="3976754"/>
            <a:ext cx="514603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icket Médio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0841" y="4954829"/>
            <a:ext cx="454030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Va</a:t>
            </a:r>
            <a:r>
              <a:rPr lang="en-US" sz="33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riações regionais e 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otimização logística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30841" y="6360795"/>
            <a:ext cx="7500004" cy="57150"/>
            <a:chOff x="0" y="0"/>
            <a:chExt cx="10000005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99980" cy="76200"/>
            </a:xfrm>
            <a:custGeom>
              <a:avLst/>
              <a:gdLst/>
              <a:ahLst/>
              <a:cxnLst/>
              <a:rect r="r" b="b" t="t" l="l"/>
              <a:pathLst>
                <a:path h="76200" w="9999980">
                  <a:moveTo>
                    <a:pt x="0" y="0"/>
                  </a:moveTo>
                  <a:lnTo>
                    <a:pt x="9999980" y="0"/>
                  </a:lnTo>
                  <a:lnTo>
                    <a:pt x="999998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105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66673" y="3483654"/>
            <a:ext cx="8493919" cy="2934291"/>
            <a:chOff x="0" y="0"/>
            <a:chExt cx="11325225" cy="39123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25225" cy="3912362"/>
            </a:xfrm>
            <a:custGeom>
              <a:avLst/>
              <a:gdLst/>
              <a:ahLst/>
              <a:cxnLst/>
              <a:rect r="r" b="b" t="t" l="l"/>
              <a:pathLst>
                <a:path h="3912362" w="11325225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1020425" y="0"/>
                  </a:lnTo>
                  <a:cubicBezTo>
                    <a:pt x="11188700" y="0"/>
                    <a:pt x="11325225" y="136398"/>
                    <a:pt x="11325225" y="304800"/>
                  </a:cubicBezTo>
                  <a:lnTo>
                    <a:pt x="11325225" y="3607562"/>
                  </a:lnTo>
                  <a:cubicBezTo>
                    <a:pt x="11325225" y="3775837"/>
                    <a:pt x="11188827" y="3912362"/>
                    <a:pt x="11020425" y="3912362"/>
                  </a:cubicBezTo>
                  <a:lnTo>
                    <a:pt x="304800" y="3912362"/>
                  </a:lnTo>
                  <a:cubicBezTo>
                    <a:pt x="136525" y="3912362"/>
                    <a:pt x="0" y="3775964"/>
                    <a:pt x="0" y="3607562"/>
                  </a:cubicBezTo>
                  <a:close/>
                </a:path>
              </a:pathLst>
            </a:custGeom>
            <a:solidFill>
              <a:srgbClr val="2A101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881023" y="3983717"/>
            <a:ext cx="257175" cy="257175"/>
            <a:chOff x="0" y="0"/>
            <a:chExt cx="342900" cy="3429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77" r="0" b="-277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58388" y="3938006"/>
            <a:ext cx="318103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FF6B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Pergunta de Negócio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81023" y="4483779"/>
            <a:ext cx="765095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"De que forma a variação na demanda por categorias entre macrorregiões impacta a composição da receita, e como a distribuição geográfica dos sellers pode ser otimizada para atender preferências locais e alavancar o ticket médio?"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400388" y="1093547"/>
            <a:ext cx="11017993" cy="8359247"/>
          </a:xfrm>
          <a:custGeom>
            <a:avLst/>
            <a:gdLst/>
            <a:ahLst/>
            <a:cxnLst/>
            <a:rect r="r" b="b" t="t" l="l"/>
            <a:pathLst>
              <a:path h="8359247" w="11017993">
                <a:moveTo>
                  <a:pt x="0" y="0"/>
                </a:moveTo>
                <a:lnTo>
                  <a:pt x="11017993" y="0"/>
                </a:lnTo>
                <a:lnTo>
                  <a:pt x="11017993" y="8359247"/>
                </a:lnTo>
                <a:lnTo>
                  <a:pt x="0" y="835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-15903" r="0" b="-1590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742950"/>
            <a:ext cx="105816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F6B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03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057275"/>
            <a:ext cx="7326525" cy="484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3 Categorias por Macrorregião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283123" y="2639978"/>
            <a:ext cx="11540370" cy="6365610"/>
            <a:chOff x="0" y="0"/>
            <a:chExt cx="12521679" cy="69068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21692" cy="6906895"/>
            </a:xfrm>
            <a:custGeom>
              <a:avLst/>
              <a:gdLst/>
              <a:ahLst/>
              <a:cxnLst/>
              <a:rect r="r" b="b" t="t" l="l"/>
              <a:pathLst>
                <a:path h="6906895" w="12521692">
                  <a:moveTo>
                    <a:pt x="0" y="0"/>
                  </a:moveTo>
                  <a:lnTo>
                    <a:pt x="12521692" y="0"/>
                  </a:lnTo>
                  <a:lnTo>
                    <a:pt x="12521692" y="6906895"/>
                  </a:lnTo>
                  <a:lnTo>
                    <a:pt x="0" y="6906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28605" y="2177415"/>
            <a:ext cx="7177792" cy="46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 Categorias líderes em volume por região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8605" y="3413150"/>
            <a:ext cx="4625502" cy="426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Principais categorias: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Beleza e saúde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Cama, mesa e banho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Moveis e decoração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Esporte e lazer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Informática </a:t>
            </a:r>
          </a:p>
          <a:p>
            <a:pPr algn="l" marL="325755" indent="-162878" lvl="1">
              <a:lnSpc>
                <a:spcPts val="2160"/>
              </a:lnSpc>
            </a:pPr>
          </a:p>
          <a:p>
            <a:pPr algn="l" marL="325755" indent="-162878" lvl="1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Análise: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Sudeste lidera em volume absoluto;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Norte e Centro-Oeste concentram-se em menos categorias com variações de ordem.</a:t>
            </a:r>
          </a:p>
          <a:p>
            <a:pPr algn="l" marL="325755" indent="-162878" lvl="1">
              <a:lnSpc>
                <a:spcPts val="2160"/>
              </a:lnSpc>
            </a:pPr>
          </a:p>
          <a:p>
            <a:pPr algn="l" marL="325755" indent="-162878" lvl="1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400388" y="1093547"/>
            <a:ext cx="11017993" cy="8359247"/>
          </a:xfrm>
          <a:custGeom>
            <a:avLst/>
            <a:gdLst/>
            <a:ahLst/>
            <a:cxnLst/>
            <a:rect r="r" b="b" t="t" l="l"/>
            <a:pathLst>
              <a:path h="8359247" w="11017993">
                <a:moveTo>
                  <a:pt x="0" y="0"/>
                </a:moveTo>
                <a:lnTo>
                  <a:pt x="11017993" y="0"/>
                </a:lnTo>
                <a:lnTo>
                  <a:pt x="11017993" y="8359247"/>
                </a:lnTo>
                <a:lnTo>
                  <a:pt x="0" y="835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-15903" r="0" b="-1590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50708"/>
            <a:ext cx="105816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F6B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03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69783"/>
            <a:ext cx="891748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Receita Total por Macrorregião (R$) &amp;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Representatividade do Top 3 (Volume vs. Receita)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788933"/>
            <a:ext cx="4625502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Dados: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Sudeste: R$ 10,1M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Sul: R$ 2,3M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Nordeste: R$ 1,9M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Centro-Oeste: R$ 1,0M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Norte: R$ 0,4M</a:t>
            </a:r>
          </a:p>
          <a:p>
            <a:pPr algn="l" marL="325755" indent="-162878" lvl="1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Análise: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Forte concentração econômica no Sudeste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Demais regiões com participação menor</a:t>
            </a:r>
          </a:p>
          <a:p>
            <a:pPr algn="l" marL="325755" indent="-162878" lvl="1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5143500"/>
            <a:ext cx="6366320" cy="4383398"/>
            <a:chOff x="0" y="0"/>
            <a:chExt cx="12702680" cy="87461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02667" cy="8746206"/>
            </a:xfrm>
            <a:custGeom>
              <a:avLst/>
              <a:gdLst/>
              <a:ahLst/>
              <a:cxnLst/>
              <a:rect r="r" b="b" t="t" l="l"/>
              <a:pathLst>
                <a:path h="8746206" w="12702667">
                  <a:moveTo>
                    <a:pt x="0" y="0"/>
                  </a:moveTo>
                  <a:lnTo>
                    <a:pt x="12702667" y="0"/>
                  </a:lnTo>
                  <a:lnTo>
                    <a:pt x="12702667" y="8746206"/>
                  </a:lnTo>
                  <a:lnTo>
                    <a:pt x="0" y="8746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72" r="0" b="-127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5143500"/>
            <a:ext cx="7394311" cy="4383398"/>
            <a:chOff x="0" y="0"/>
            <a:chExt cx="13124167" cy="7780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24180" cy="7780147"/>
            </a:xfrm>
            <a:custGeom>
              <a:avLst/>
              <a:gdLst/>
              <a:ahLst/>
              <a:cxnLst/>
              <a:rect r="r" b="b" t="t" l="l"/>
              <a:pathLst>
                <a:path h="7780147" w="13124180">
                  <a:moveTo>
                    <a:pt x="0" y="0"/>
                  </a:moveTo>
                  <a:lnTo>
                    <a:pt x="13124180" y="0"/>
                  </a:lnTo>
                  <a:lnTo>
                    <a:pt x="13124180" y="7780147"/>
                  </a:lnTo>
                  <a:lnTo>
                    <a:pt x="0" y="7780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248059" y="2097270"/>
            <a:ext cx="7035085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Análise: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Volume Absoluto: Liderança do Sudeste impulsionada por categorias de grande apelo.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Perfil de Consumo: Menor volume no N e CO, concentrado em menos categorias.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Comportamento Regional: Alta variação na ordem de prioridade de compra por região.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390863" y="1093547"/>
            <a:ext cx="11017993" cy="8359247"/>
          </a:xfrm>
          <a:custGeom>
            <a:avLst/>
            <a:gdLst/>
            <a:ahLst/>
            <a:cxnLst/>
            <a:rect r="r" b="b" t="t" l="l"/>
            <a:pathLst>
              <a:path h="8359247" w="11017993">
                <a:moveTo>
                  <a:pt x="0" y="0"/>
                </a:moveTo>
                <a:lnTo>
                  <a:pt x="11017993" y="0"/>
                </a:lnTo>
                <a:lnTo>
                  <a:pt x="11017993" y="8359247"/>
                </a:lnTo>
                <a:lnTo>
                  <a:pt x="0" y="835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-15903" r="0" b="-1590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8217" y="704961"/>
            <a:ext cx="105816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F6B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03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8217" y="1057275"/>
            <a:ext cx="5196135" cy="41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Ticket Médio vs. Frete Médio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0991" y="1736684"/>
            <a:ext cx="5727487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categorias líderes em volume por região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9194" y="1911487"/>
            <a:ext cx="6591090" cy="46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Ticket médio e frete médio por região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9657" y="2858472"/>
            <a:ext cx="4625502" cy="400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Dados: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Norte: ticket médio próximo de R$ 200 (mais elevado)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Sul: patamar elevado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Frete cresce acentuadamente em direção às regiões mais distantes dos centros de distribuição</a:t>
            </a:r>
          </a:p>
          <a:p>
            <a:pPr algn="l" marL="325755" indent="-162878" lvl="1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Análise: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Ticket elevado no Norte é impulsionado pelo custo logístico, não pelo valor real do produto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Frete alto penaliza o consumidor e afeta competitividade de preço</a:t>
            </a: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8100656" y="2374049"/>
            <a:ext cx="9333757" cy="7206091"/>
            <a:chOff x="0" y="0"/>
            <a:chExt cx="12445009" cy="96081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44984" cy="9608058"/>
            </a:xfrm>
            <a:custGeom>
              <a:avLst/>
              <a:gdLst/>
              <a:ahLst/>
              <a:cxnLst/>
              <a:rect r="r" b="b" t="t" l="l"/>
              <a:pathLst>
                <a:path h="9608058" w="12444984">
                  <a:moveTo>
                    <a:pt x="0" y="0"/>
                  </a:moveTo>
                  <a:lnTo>
                    <a:pt x="12444984" y="0"/>
                  </a:lnTo>
                  <a:lnTo>
                    <a:pt x="12444984" y="9608058"/>
                  </a:lnTo>
                  <a:lnTo>
                    <a:pt x="0" y="9608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400388" y="1093547"/>
            <a:ext cx="11017993" cy="8359247"/>
          </a:xfrm>
          <a:custGeom>
            <a:avLst/>
            <a:gdLst/>
            <a:ahLst/>
            <a:cxnLst/>
            <a:rect r="r" b="b" t="t" l="l"/>
            <a:pathLst>
              <a:path h="8359247" w="11017993">
                <a:moveTo>
                  <a:pt x="0" y="0"/>
                </a:moveTo>
                <a:lnTo>
                  <a:pt x="11017993" y="0"/>
                </a:lnTo>
                <a:lnTo>
                  <a:pt x="11017993" y="8359247"/>
                </a:lnTo>
                <a:lnTo>
                  <a:pt x="0" y="835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-15903" r="0" b="-1590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8217" y="713046"/>
            <a:ext cx="105816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F6B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03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8217" y="1057275"/>
            <a:ext cx="5953554" cy="41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Matriz de Dependência Logística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9194" y="1911487"/>
            <a:ext cx="11058658" cy="46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Mapa de calor cruzando região do cliente × região do vendedor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8217" y="3143250"/>
            <a:ext cx="4133310" cy="640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Dados: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Centro-Oeste: 82,9% atendidos pelo Sudeste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Nordeste: 84,3%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Norte: 84,2%</a:t>
            </a:r>
          </a:p>
          <a:p>
            <a:pPr algn="l" marL="325755" indent="-162878" lvl="1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Análise: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Forte dependência logística no eixo Sudeste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Participação de vendedores locais fora do eixo Sudeste é residual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Riscos Operacionais e Previsibilidade:</a:t>
            </a:r>
          </a:p>
          <a:p>
            <a:pPr algn="l">
              <a:lnSpc>
                <a:spcPts val="2160"/>
              </a:lnSpc>
            </a:pP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concentração no eixo Sul-Sudeste expõe a operação a riscos climáticos e bloqueios rodoviários, reduzindo a previsibilidade de entrega e a experiência do cliente.</a:t>
            </a:r>
          </a:p>
          <a:p>
            <a:pPr algn="l" marL="325755" indent="-162878" lvl="1">
              <a:lnSpc>
                <a:spcPts val="216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7711558" y="2951180"/>
            <a:ext cx="8558508" cy="5401475"/>
            <a:chOff x="0" y="0"/>
            <a:chExt cx="11411344" cy="72019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11331" cy="7201916"/>
            </a:xfrm>
            <a:custGeom>
              <a:avLst/>
              <a:gdLst/>
              <a:ahLst/>
              <a:cxnLst/>
              <a:rect r="r" b="b" t="t" l="l"/>
              <a:pathLst>
                <a:path h="7201916" w="11411331">
                  <a:moveTo>
                    <a:pt x="0" y="0"/>
                  </a:moveTo>
                  <a:lnTo>
                    <a:pt x="11411331" y="0"/>
                  </a:lnTo>
                  <a:lnTo>
                    <a:pt x="11411331" y="7201916"/>
                  </a:lnTo>
                  <a:lnTo>
                    <a:pt x="0" y="7201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400388" y="1093547"/>
            <a:ext cx="11017993" cy="8359247"/>
          </a:xfrm>
          <a:custGeom>
            <a:avLst/>
            <a:gdLst/>
            <a:ahLst/>
            <a:cxnLst/>
            <a:rect r="r" b="b" t="t" l="l"/>
            <a:pathLst>
              <a:path h="8359247" w="11017993">
                <a:moveTo>
                  <a:pt x="0" y="0"/>
                </a:moveTo>
                <a:lnTo>
                  <a:pt x="11017993" y="0"/>
                </a:lnTo>
                <a:lnTo>
                  <a:pt x="11017993" y="8359247"/>
                </a:lnTo>
                <a:lnTo>
                  <a:pt x="0" y="835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-15903" r="0" b="-1590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1728788"/>
            <a:ext cx="16459200" cy="14288"/>
            <a:chOff x="0" y="0"/>
            <a:chExt cx="21945600" cy="190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A101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924113" y="3283946"/>
            <a:ext cx="12535661" cy="3897288"/>
            <a:chOff x="0" y="0"/>
            <a:chExt cx="16661047" cy="122520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61048" cy="12251872"/>
            </a:xfrm>
            <a:custGeom>
              <a:avLst/>
              <a:gdLst/>
              <a:ahLst/>
              <a:cxnLst/>
              <a:rect r="r" b="b" t="t" l="l"/>
              <a:pathLst>
                <a:path h="12251872" w="16661048">
                  <a:moveTo>
                    <a:pt x="0" y="663533"/>
                  </a:moveTo>
                  <a:cubicBezTo>
                    <a:pt x="0" y="297269"/>
                    <a:pt x="243820" y="0"/>
                    <a:pt x="544231" y="0"/>
                  </a:cubicBezTo>
                  <a:lnTo>
                    <a:pt x="16116816" y="0"/>
                  </a:lnTo>
                  <a:cubicBezTo>
                    <a:pt x="16417528" y="0"/>
                    <a:pt x="16661048" y="297269"/>
                    <a:pt x="16661048" y="663533"/>
                  </a:cubicBezTo>
                  <a:lnTo>
                    <a:pt x="16661048" y="11588339"/>
                  </a:lnTo>
                  <a:cubicBezTo>
                    <a:pt x="16661048" y="11954970"/>
                    <a:pt x="16417226" y="12251872"/>
                    <a:pt x="16116816" y="12251872"/>
                  </a:cubicBezTo>
                  <a:lnTo>
                    <a:pt x="544231" y="12251872"/>
                  </a:lnTo>
                  <a:cubicBezTo>
                    <a:pt x="243820" y="12251872"/>
                    <a:pt x="0" y="11954970"/>
                    <a:pt x="0" y="11588339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914400" y="685800"/>
            <a:ext cx="100548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F6B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TRILHA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1000125"/>
            <a:ext cx="229805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Conclusão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8476" y="3406000"/>
            <a:ext cx="50504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Hiperconcentração Econômica e Logística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876170" y="3283946"/>
            <a:ext cx="12535661" cy="3890520"/>
            <a:chOff x="0" y="0"/>
            <a:chExt cx="16661047" cy="122307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61048" cy="12230595"/>
            </a:xfrm>
            <a:custGeom>
              <a:avLst/>
              <a:gdLst/>
              <a:ahLst/>
              <a:cxnLst/>
              <a:rect r="r" b="b" t="t" l="l"/>
              <a:pathLst>
                <a:path h="12230595" w="16661048">
                  <a:moveTo>
                    <a:pt x="0" y="662381"/>
                  </a:moveTo>
                  <a:cubicBezTo>
                    <a:pt x="0" y="296752"/>
                    <a:pt x="243820" y="0"/>
                    <a:pt x="544231" y="0"/>
                  </a:cubicBezTo>
                  <a:lnTo>
                    <a:pt x="16116816" y="0"/>
                  </a:lnTo>
                  <a:cubicBezTo>
                    <a:pt x="16417528" y="0"/>
                    <a:pt x="16661048" y="296752"/>
                    <a:pt x="16661048" y="662381"/>
                  </a:cubicBezTo>
                  <a:lnTo>
                    <a:pt x="16661048" y="11568214"/>
                  </a:lnTo>
                  <a:cubicBezTo>
                    <a:pt x="16661048" y="11934209"/>
                    <a:pt x="16417226" y="12230595"/>
                    <a:pt x="16116816" y="12230595"/>
                  </a:cubicBezTo>
                  <a:lnTo>
                    <a:pt x="544231" y="12230595"/>
                  </a:lnTo>
                  <a:cubicBezTo>
                    <a:pt x="243820" y="12230595"/>
                    <a:pt x="0" y="11934209"/>
                    <a:pt x="0" y="11568214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736261" y="3150596"/>
            <a:ext cx="12535661" cy="3897288"/>
            <a:chOff x="0" y="0"/>
            <a:chExt cx="16661047" cy="122520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661048" cy="12251872"/>
            </a:xfrm>
            <a:custGeom>
              <a:avLst/>
              <a:gdLst/>
              <a:ahLst/>
              <a:cxnLst/>
              <a:rect r="r" b="b" t="t" l="l"/>
              <a:pathLst>
                <a:path h="12251872" w="16661048">
                  <a:moveTo>
                    <a:pt x="0" y="663533"/>
                  </a:moveTo>
                  <a:cubicBezTo>
                    <a:pt x="0" y="297269"/>
                    <a:pt x="243820" y="0"/>
                    <a:pt x="544231" y="0"/>
                  </a:cubicBezTo>
                  <a:lnTo>
                    <a:pt x="16116816" y="0"/>
                  </a:lnTo>
                  <a:cubicBezTo>
                    <a:pt x="16417528" y="0"/>
                    <a:pt x="16661048" y="297269"/>
                    <a:pt x="16661048" y="663533"/>
                  </a:cubicBezTo>
                  <a:lnTo>
                    <a:pt x="16661048" y="11588339"/>
                  </a:lnTo>
                  <a:cubicBezTo>
                    <a:pt x="16661048" y="11954970"/>
                    <a:pt x="16417226" y="12251872"/>
                    <a:pt x="16116816" y="12251872"/>
                  </a:cubicBezTo>
                  <a:lnTo>
                    <a:pt x="544231" y="12251872"/>
                  </a:lnTo>
                  <a:cubicBezTo>
                    <a:pt x="243820" y="12251872"/>
                    <a:pt x="0" y="11954970"/>
                    <a:pt x="0" y="11588339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7128942" y="3406000"/>
            <a:ext cx="403011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icket Inflado por Custo Logístico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53835" y="3406000"/>
            <a:ext cx="41005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</a:t>
            </a: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ependência e Risco Operacional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5003" y="4051670"/>
            <a:ext cx="4429868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Sudeste concentra R$ 10,1M em receita e mais de 80% dos envios para Norte, Nordeste e Centro-Oeste, gerando fretes elevados, prazos longos e menor conversão.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28532" y="4051670"/>
            <a:ext cx="4422765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icket médio elevado no Norte (~R$ 200) reflete a penalização do custo logístico por distância, e não o valor real do produto.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618180" y="4032441"/>
            <a:ext cx="4755420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Concentração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no Top 3 de categorias e no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eixo Sul-Sudeste eleva a vulnerabilidade a bloqueios e riscos climáticos, reduzindo a previsibilidade de entrega.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728788"/>
            <a:ext cx="16459200" cy="14288"/>
            <a:chOff x="0" y="0"/>
            <a:chExt cx="219456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050"/>
            </a:xfrm>
            <a:custGeom>
              <a:avLst/>
              <a:gdLst/>
              <a:ahLst/>
              <a:cxnLst/>
              <a:rect r="r" b="b" t="t" l="l"/>
              <a:pathLst>
                <a:path h="1905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A101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" y="685800"/>
            <a:ext cx="173736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SÍNTESE DOS ACHADOS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1000125"/>
            <a:ext cx="17373600" cy="50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Recomendações Finais aos Investidores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85812" y="2281238"/>
            <a:ext cx="12184450" cy="1361460"/>
            <a:chOff x="0" y="0"/>
            <a:chExt cx="21964650" cy="24542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64650" cy="2454402"/>
            </a:xfrm>
            <a:custGeom>
              <a:avLst/>
              <a:gdLst/>
              <a:ahLst/>
              <a:cxnLst/>
              <a:rect r="r" b="b" t="t" l="l"/>
              <a:pathLst>
                <a:path h="2454402" w="21964650">
                  <a:moveTo>
                    <a:pt x="0" y="354896"/>
                  </a:moveTo>
                  <a:cubicBezTo>
                    <a:pt x="0" y="158944"/>
                    <a:pt x="103632" y="0"/>
                    <a:pt x="231394" y="0"/>
                  </a:cubicBezTo>
                  <a:lnTo>
                    <a:pt x="21733256" y="0"/>
                  </a:lnTo>
                  <a:cubicBezTo>
                    <a:pt x="21861019" y="0"/>
                    <a:pt x="21964650" y="158944"/>
                    <a:pt x="21964650" y="354896"/>
                  </a:cubicBezTo>
                  <a:lnTo>
                    <a:pt x="21964650" y="2099574"/>
                  </a:lnTo>
                  <a:cubicBezTo>
                    <a:pt x="21964650" y="2295526"/>
                    <a:pt x="21861019" y="2454402"/>
                    <a:pt x="21733256" y="2454402"/>
                  </a:cubicBezTo>
                  <a:lnTo>
                    <a:pt x="231394" y="2454402"/>
                  </a:lnTo>
                  <a:cubicBezTo>
                    <a:pt x="103632" y="2454275"/>
                    <a:pt x="0" y="2295331"/>
                    <a:pt x="0" y="2099379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588419"/>
            <a:ext cx="585788" cy="585788"/>
            <a:chOff x="0" y="0"/>
            <a:chExt cx="781050" cy="781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1050" cy="781050"/>
            </a:xfrm>
            <a:custGeom>
              <a:avLst/>
              <a:gdLst/>
              <a:ahLst/>
              <a:cxnLst/>
              <a:rect r="r" b="b" t="t" l="l"/>
              <a:pathLst>
                <a:path h="781050" w="781050">
                  <a:moveTo>
                    <a:pt x="0" y="390525"/>
                  </a:moveTo>
                  <a:cubicBezTo>
                    <a:pt x="0" y="174879"/>
                    <a:pt x="174879" y="0"/>
                    <a:pt x="390525" y="0"/>
                  </a:cubicBezTo>
                  <a:cubicBezTo>
                    <a:pt x="606171" y="0"/>
                    <a:pt x="781050" y="174879"/>
                    <a:pt x="781050" y="390525"/>
                  </a:cubicBezTo>
                  <a:cubicBezTo>
                    <a:pt x="781050" y="606171"/>
                    <a:pt x="606171" y="781050"/>
                    <a:pt x="390525" y="781050"/>
                  </a:cubicBezTo>
                  <a:cubicBezTo>
                    <a:pt x="174879" y="781050"/>
                    <a:pt x="0" y="606171"/>
                    <a:pt x="0" y="390525"/>
                  </a:cubicBezTo>
                  <a:close/>
                </a:path>
              </a:pathLst>
            </a:custGeom>
            <a:solidFill>
              <a:srgbClr val="2A0A14"/>
            </a:solidFill>
            <a:ln w="14288" cap="sq">
              <a:solidFill>
                <a:srgbClr val="FF408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35831" y="2595562"/>
            <a:ext cx="1000125" cy="571500"/>
            <a:chOff x="0" y="0"/>
            <a:chExt cx="1333500" cy="76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500" cy="762000"/>
            </a:xfrm>
            <a:custGeom>
              <a:avLst/>
              <a:gdLst/>
              <a:ahLst/>
              <a:cxnLst/>
              <a:rect r="r" b="b" t="t" l="l"/>
              <a:pathLst>
                <a:path h="7620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3335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408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5812" y="4660106"/>
            <a:ext cx="12184450" cy="1361460"/>
            <a:chOff x="0" y="0"/>
            <a:chExt cx="21964650" cy="24542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64650" cy="2454402"/>
            </a:xfrm>
            <a:custGeom>
              <a:avLst/>
              <a:gdLst/>
              <a:ahLst/>
              <a:cxnLst/>
              <a:rect r="r" b="b" t="t" l="l"/>
              <a:pathLst>
                <a:path h="2454402" w="21964650">
                  <a:moveTo>
                    <a:pt x="0" y="354896"/>
                  </a:moveTo>
                  <a:cubicBezTo>
                    <a:pt x="0" y="158944"/>
                    <a:pt x="103632" y="0"/>
                    <a:pt x="231394" y="0"/>
                  </a:cubicBezTo>
                  <a:lnTo>
                    <a:pt x="21733256" y="0"/>
                  </a:lnTo>
                  <a:cubicBezTo>
                    <a:pt x="21861019" y="0"/>
                    <a:pt x="21964650" y="158944"/>
                    <a:pt x="21964650" y="354896"/>
                  </a:cubicBezTo>
                  <a:lnTo>
                    <a:pt x="21964650" y="2099574"/>
                  </a:lnTo>
                  <a:cubicBezTo>
                    <a:pt x="21964650" y="2295526"/>
                    <a:pt x="21861019" y="2454402"/>
                    <a:pt x="21733256" y="2454402"/>
                  </a:cubicBezTo>
                  <a:lnTo>
                    <a:pt x="231394" y="2454402"/>
                  </a:lnTo>
                  <a:cubicBezTo>
                    <a:pt x="103632" y="2454275"/>
                    <a:pt x="0" y="2295331"/>
                    <a:pt x="0" y="2099379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43000" y="4967288"/>
            <a:ext cx="585788" cy="585788"/>
            <a:chOff x="0" y="0"/>
            <a:chExt cx="781050" cy="781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1050" cy="781050"/>
            </a:xfrm>
            <a:custGeom>
              <a:avLst/>
              <a:gdLst/>
              <a:ahLst/>
              <a:cxnLst/>
              <a:rect r="r" b="b" t="t" l="l"/>
              <a:pathLst>
                <a:path h="781050" w="781050">
                  <a:moveTo>
                    <a:pt x="0" y="390525"/>
                  </a:moveTo>
                  <a:cubicBezTo>
                    <a:pt x="0" y="174879"/>
                    <a:pt x="174879" y="0"/>
                    <a:pt x="390525" y="0"/>
                  </a:cubicBezTo>
                  <a:cubicBezTo>
                    <a:pt x="606171" y="0"/>
                    <a:pt x="781050" y="174879"/>
                    <a:pt x="781050" y="390525"/>
                  </a:cubicBezTo>
                  <a:cubicBezTo>
                    <a:pt x="781050" y="606171"/>
                    <a:pt x="606171" y="781050"/>
                    <a:pt x="390525" y="781050"/>
                  </a:cubicBezTo>
                  <a:cubicBezTo>
                    <a:pt x="174879" y="781050"/>
                    <a:pt x="0" y="606171"/>
                    <a:pt x="0" y="390525"/>
                  </a:cubicBezTo>
                  <a:close/>
                </a:path>
              </a:pathLst>
            </a:custGeom>
            <a:solidFill>
              <a:srgbClr val="2A0A14"/>
            </a:solidFill>
            <a:ln w="14288" cap="sq">
              <a:solidFill>
                <a:srgbClr val="FF408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5831" y="4974431"/>
            <a:ext cx="1000125" cy="571500"/>
            <a:chOff x="0" y="0"/>
            <a:chExt cx="1333500" cy="762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3500" cy="762000"/>
            </a:xfrm>
            <a:custGeom>
              <a:avLst/>
              <a:gdLst/>
              <a:ahLst/>
              <a:cxnLst/>
              <a:rect r="r" b="b" t="t" l="l"/>
              <a:pathLst>
                <a:path h="7620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3335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408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007394" y="5126831"/>
            <a:ext cx="811537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Sustentar o crescimento das vendas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5812" y="7092553"/>
            <a:ext cx="12184450" cy="1361460"/>
            <a:chOff x="0" y="0"/>
            <a:chExt cx="21964650" cy="24542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64650" cy="2454402"/>
            </a:xfrm>
            <a:custGeom>
              <a:avLst/>
              <a:gdLst/>
              <a:ahLst/>
              <a:cxnLst/>
              <a:rect r="r" b="b" t="t" l="l"/>
              <a:pathLst>
                <a:path h="2454402" w="21964650">
                  <a:moveTo>
                    <a:pt x="0" y="354896"/>
                  </a:moveTo>
                  <a:cubicBezTo>
                    <a:pt x="0" y="158944"/>
                    <a:pt x="103632" y="0"/>
                    <a:pt x="231394" y="0"/>
                  </a:cubicBezTo>
                  <a:lnTo>
                    <a:pt x="21733256" y="0"/>
                  </a:lnTo>
                  <a:cubicBezTo>
                    <a:pt x="21861019" y="0"/>
                    <a:pt x="21964650" y="158944"/>
                    <a:pt x="21964650" y="354896"/>
                  </a:cubicBezTo>
                  <a:lnTo>
                    <a:pt x="21964650" y="2099574"/>
                  </a:lnTo>
                  <a:cubicBezTo>
                    <a:pt x="21964650" y="2295526"/>
                    <a:pt x="21861019" y="2454402"/>
                    <a:pt x="21733256" y="2454402"/>
                  </a:cubicBezTo>
                  <a:lnTo>
                    <a:pt x="231394" y="2454402"/>
                  </a:lnTo>
                  <a:cubicBezTo>
                    <a:pt x="103632" y="2454275"/>
                    <a:pt x="0" y="2295331"/>
                    <a:pt x="0" y="2099379"/>
                  </a:cubicBezTo>
                  <a:close/>
                </a:path>
              </a:pathLst>
            </a:custGeom>
            <a:solidFill>
              <a:srgbClr val="1A0A12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43000" y="7399734"/>
            <a:ext cx="585788" cy="585788"/>
            <a:chOff x="0" y="0"/>
            <a:chExt cx="781050" cy="781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1050" cy="781050"/>
            </a:xfrm>
            <a:custGeom>
              <a:avLst/>
              <a:gdLst/>
              <a:ahLst/>
              <a:cxnLst/>
              <a:rect r="r" b="b" t="t" l="l"/>
              <a:pathLst>
                <a:path h="781050" w="781050">
                  <a:moveTo>
                    <a:pt x="0" y="390525"/>
                  </a:moveTo>
                  <a:cubicBezTo>
                    <a:pt x="0" y="174879"/>
                    <a:pt x="174879" y="0"/>
                    <a:pt x="390525" y="0"/>
                  </a:cubicBezTo>
                  <a:cubicBezTo>
                    <a:pt x="606171" y="0"/>
                    <a:pt x="781050" y="174879"/>
                    <a:pt x="781050" y="390525"/>
                  </a:cubicBezTo>
                  <a:cubicBezTo>
                    <a:pt x="781050" y="606171"/>
                    <a:pt x="606171" y="781050"/>
                    <a:pt x="390525" y="781050"/>
                  </a:cubicBezTo>
                  <a:cubicBezTo>
                    <a:pt x="174879" y="781050"/>
                    <a:pt x="0" y="606171"/>
                    <a:pt x="0" y="390525"/>
                  </a:cubicBezTo>
                  <a:close/>
                </a:path>
              </a:pathLst>
            </a:custGeom>
            <a:solidFill>
              <a:srgbClr val="2A0A14"/>
            </a:solidFill>
            <a:ln w="14288" cap="sq">
              <a:solidFill>
                <a:srgbClr val="FF408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35831" y="7406878"/>
            <a:ext cx="1000125" cy="571500"/>
            <a:chOff x="0" y="0"/>
            <a:chExt cx="1333500" cy="762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33500" cy="762000"/>
            </a:xfrm>
            <a:custGeom>
              <a:avLst/>
              <a:gdLst/>
              <a:ahLst/>
              <a:cxnLst/>
              <a:rect r="r" b="b" t="t" l="l"/>
              <a:pathLst>
                <a:path h="7620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3335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408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007394" y="7506583"/>
            <a:ext cx="1508797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Expansão e Descentralização Regional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07394" y="2747962"/>
            <a:ext cx="1024979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Programa de acompanhamento do top 150 e capacitação para pequenos vendedores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79369" y="5992044"/>
            <a:ext cx="5529262" cy="700088"/>
            <a:chOff x="0" y="0"/>
            <a:chExt cx="7372350" cy="933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72350" cy="933450"/>
            </a:xfrm>
            <a:custGeom>
              <a:avLst/>
              <a:gdLst/>
              <a:ahLst/>
              <a:cxnLst/>
              <a:rect r="r" b="b" t="t" l="l"/>
              <a:pathLst>
                <a:path h="933450" w="7372350">
                  <a:moveTo>
                    <a:pt x="0" y="233426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7138924" y="0"/>
                  </a:lnTo>
                  <a:cubicBezTo>
                    <a:pt x="7267829" y="0"/>
                    <a:pt x="7372350" y="104521"/>
                    <a:pt x="7372350" y="233299"/>
                  </a:cubicBezTo>
                  <a:lnTo>
                    <a:pt x="7372350" y="700024"/>
                  </a:lnTo>
                  <a:cubicBezTo>
                    <a:pt x="7372350" y="828929"/>
                    <a:pt x="7267829" y="933450"/>
                    <a:pt x="7138924" y="933450"/>
                  </a:cubicBezTo>
                  <a:lnTo>
                    <a:pt x="233426" y="933450"/>
                  </a:lnTo>
                  <a:cubicBezTo>
                    <a:pt x="104521" y="933450"/>
                    <a:pt x="0" y="828929"/>
                    <a:pt x="0" y="700024"/>
                  </a:cubicBezTo>
                  <a:close/>
                </a:path>
              </a:pathLst>
            </a:custGeom>
            <a:solidFill>
              <a:srgbClr val="2A0A14"/>
            </a:solidFill>
            <a:ln w="14288" cap="sq">
              <a:solidFill>
                <a:srgbClr val="2A101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743700" y="6184925"/>
            <a:ext cx="300038" cy="314325"/>
            <a:chOff x="0" y="0"/>
            <a:chExt cx="400050" cy="4191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00050" cy="419100"/>
            </a:xfrm>
            <a:custGeom>
              <a:avLst/>
              <a:gdLst/>
              <a:ahLst/>
              <a:cxnLst/>
              <a:rect r="r" b="b" t="t" l="l"/>
              <a:pathLst>
                <a:path h="4191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72" r="0" b="-227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080737" y="3373184"/>
            <a:ext cx="12126516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F5105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PÓS-GRADUAÇÃO FIAP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77576" y="3835146"/>
            <a:ext cx="12732839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3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OBRIGADO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26238" y="9143781"/>
            <a:ext cx="21288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64748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CHALLENGE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55075" y="9143781"/>
            <a:ext cx="5286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64748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72533" y="9143781"/>
            <a:ext cx="101441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64748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FASE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60050" y="9153306"/>
            <a:ext cx="5286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64748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74413" y="9143781"/>
            <a:ext cx="17081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64748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ANALYTICS</a:t>
            </a:r>
          </a:p>
          <a:p>
            <a:pPr algn="ctr">
              <a:lnSpc>
                <a:spcPts val="175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103338" y="6220644"/>
            <a:ext cx="455280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E2E8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Link do Repositório GitHub com os Códigos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DAHZP8fMIXY</dc:identifier>
  <dcterms:modified xsi:type="dcterms:W3CDTF">2011-08-01T06:04:30Z</dcterms:modified>
  <cp:revision>1</cp:revision>
  <dc:title>tech_challenge_olist.pptx</dc:title>
</cp:coreProperties>
</file>